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6" r:id="rId3"/>
    <p:sldId id="257" r:id="rId4"/>
    <p:sldId id="262" r:id="rId5"/>
    <p:sldId id="263" r:id="rId6"/>
    <p:sldId id="265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277" autoAdjust="0"/>
  </p:normalViewPr>
  <p:slideViewPr>
    <p:cSldViewPr>
      <p:cViewPr>
        <p:scale>
          <a:sx n="66" d="100"/>
          <a:sy n="66" d="100"/>
        </p:scale>
        <p:origin x="1853" y="19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5E27F-B960-486D-B812-9F48CB4EF9F3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7FC18-598C-4303-8AC8-1EF4278E8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70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7FC18-598C-4303-8AC8-1EF4278E85B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4047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b="1" dirty="0">
                <a:latin typeface="Impact" panose="020B0806030902050204" pitchFamily="34" charset="0"/>
                <a:cs typeface="Arial" pitchFamily="34" charset="0"/>
              </a:rPr>
              <a:t>ESTRUTURA DE DADOS</a:t>
            </a:r>
            <a:r>
              <a:rPr lang="pt-BR" sz="66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09</a:t>
            </a:r>
            <a:r>
              <a:rPr lang="pt-BR" sz="2000" dirty="0">
                <a:solidFill>
                  <a:srgbClr val="7030A0"/>
                </a:solidFill>
              </a:rPr>
              <a:t>@cps.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24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A9788-781E-7502-9B52-989D1B1C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573BA1-0FEF-A57F-5C0F-E6F09A01D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52" y="0"/>
            <a:ext cx="9144000" cy="4567513"/>
          </a:xfrm>
          <a:prstGeom prst="rect">
            <a:avLst/>
          </a:prstGeom>
        </p:spPr>
      </p:pic>
      <p:pic>
        <p:nvPicPr>
          <p:cNvPr id="9" name="Imagem 8" descr="Interface gráfica do usuário, Site">
            <a:extLst>
              <a:ext uri="{FF2B5EF4-FFF2-40B4-BE49-F238E27FC236}">
                <a16:creationId xmlns:a16="http://schemas.microsoft.com/office/drawing/2014/main" id="{DA12A06D-D497-3796-725A-CFFAF9EC33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0" t="34650" r="914" b="34901"/>
          <a:stretch/>
        </p:blipFill>
        <p:spPr>
          <a:xfrm>
            <a:off x="6212944" y="2314078"/>
            <a:ext cx="2592288" cy="179744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8CE72E6-1FF0-8766-BC11-5ABBF8C69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338" y="4163412"/>
            <a:ext cx="1032574" cy="37108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37C4EE-8284-1C7A-C6FC-841B09553CAD}"/>
              </a:ext>
            </a:extLst>
          </p:cNvPr>
          <p:cNvSpPr txBox="1"/>
          <p:nvPr/>
        </p:nvSpPr>
        <p:spPr>
          <a:xfrm>
            <a:off x="0" y="4600586"/>
            <a:ext cx="9141647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 Mestre em Computação Aplicada em Biociência (USP)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 Especialização MBA em Gestão de Tecnologia da Informação (Faculdade Anhanguera)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 Pós-Graduação em Docência no Ensino Superior (Centro Universitário Barão de Mauá)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 Pós-Graduação em Gestão Escolar (Centro Universitário Barão de Mauá)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 Licenciatura - Formação Pedagógica em Matemática (Faculdade Anhanguera)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 Curso Superior de Tecnologia em Análise e Desenvolvimento de Sistemas (FATEC)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F8FAFF"/>
                </a:solidFill>
                <a:effectLst/>
                <a:latin typeface="Inter"/>
              </a:rPr>
              <a:t> Curso Superior de Formação Específica em Informática (UNIFRAN)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35C5A5F-E6FD-E791-B0B6-AE7B742A72B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7" b="21513"/>
          <a:stretch>
            <a:fillRect/>
          </a:stretch>
        </p:blipFill>
        <p:spPr>
          <a:xfrm>
            <a:off x="338768" y="1052736"/>
            <a:ext cx="1797440" cy="17974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894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sultado de imagem para programaçã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45"/>
            <a:ext cx="9143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AD081224-7062-42D5-AC83-0BE27E97D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2592288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88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8800" b="1" dirty="0">
                <a:latin typeface="Impact" panose="020B0806030902050204" pitchFamily="34" charset="0"/>
                <a:cs typeface="Arial" pitchFamily="34" charset="0"/>
              </a:rPr>
              <a:t>A</a:t>
            </a:r>
            <a:r>
              <a:rPr lang="pt-BR" sz="8800" b="1" dirty="0">
                <a:solidFill>
                  <a:srgbClr val="00B050"/>
                </a:solidFill>
                <a:latin typeface="Impact" panose="020B0806030902050204" pitchFamily="34" charset="0"/>
                <a:cs typeface="Arial" pitchFamily="34" charset="0"/>
              </a:rPr>
              <a:t>PRE</a:t>
            </a:r>
            <a:r>
              <a:rPr lang="pt-BR" sz="88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SEN</a:t>
            </a:r>
            <a:r>
              <a:rPr lang="pt-BR" sz="8800" b="1" dirty="0">
                <a:solidFill>
                  <a:srgbClr val="00B0F0"/>
                </a:solidFill>
                <a:latin typeface="Impact" panose="020B0806030902050204" pitchFamily="34" charset="0"/>
                <a:cs typeface="Arial" pitchFamily="34" charset="0"/>
              </a:rPr>
              <a:t>TA</a:t>
            </a:r>
            <a:r>
              <a:rPr lang="pt-BR" sz="8800" b="1" dirty="0">
                <a:solidFill>
                  <a:srgbClr val="FFC000"/>
                </a:solidFill>
                <a:latin typeface="Impact" panose="020B0806030902050204" pitchFamily="34" charset="0"/>
                <a:cs typeface="Arial" pitchFamily="34" charset="0"/>
              </a:rPr>
              <a:t>ÇÃO</a:t>
            </a:r>
            <a:r>
              <a:rPr lang="pt-BR" sz="88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8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651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/>
          <p:cNvSpPr txBox="1">
            <a:spLocks/>
          </p:cNvSpPr>
          <p:nvPr/>
        </p:nvSpPr>
        <p:spPr>
          <a:xfrm>
            <a:off x="0" y="1313210"/>
            <a:ext cx="9144000" cy="53144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ESTRUTURA DE DADOS – 3º ADS</a:t>
            </a:r>
            <a:endParaRPr lang="pt-BR" sz="2000" b="1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83071" y="2204864"/>
            <a:ext cx="853740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b="1" u="sng" dirty="0">
                <a:solidFill>
                  <a:schemeClr val="bg1"/>
                </a:solidFill>
              </a:rPr>
              <a:t>Ementa</a:t>
            </a:r>
            <a:r>
              <a:rPr lang="pt-BR" sz="2400" b="1" dirty="0">
                <a:solidFill>
                  <a:schemeClr val="bg1"/>
                </a:solidFill>
              </a:rPr>
              <a:t>: </a:t>
            </a:r>
            <a:r>
              <a:rPr lang="pt-BR" sz="2400" dirty="0">
                <a:solidFill>
                  <a:schemeClr val="bg1"/>
                </a:solidFill>
              </a:rPr>
              <a:t>Pilhas, filas, alocação dinâmica, recursividade, listas encadeadas, tabelas de espalhamento e árvores. Algoritmos de ordenação e busca.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algn="just"/>
            <a:r>
              <a:rPr lang="pt-BR" sz="2400" b="1" u="sng" dirty="0">
                <a:solidFill>
                  <a:schemeClr val="bg1"/>
                </a:solidFill>
              </a:rPr>
              <a:t>Objetivo</a:t>
            </a:r>
            <a:r>
              <a:rPr lang="pt-BR" sz="2400" dirty="0">
                <a:solidFill>
                  <a:schemeClr val="bg1"/>
                </a:solidFill>
              </a:rPr>
              <a:t>: Criar e manipular tipos abstratos de dados: listas, pilhas, filas e árvores. Discutir os algoritmos de ordenação e de busca.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algn="just"/>
            <a:r>
              <a:rPr lang="pt-BR" sz="2400" b="1" u="sng" dirty="0">
                <a:solidFill>
                  <a:schemeClr val="bg1"/>
                </a:solidFill>
              </a:rPr>
              <a:t>Bibliografia Básica: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000" dirty="0">
                <a:solidFill>
                  <a:schemeClr val="bg1"/>
                </a:solidFill>
              </a:rPr>
              <a:t>EDELWEISS, N; GALANTE, R. Estruturas de Dados. Livros Didáticos UFRGS, V.18. Bookman, 2009.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</a:rPr>
              <a:t>KOFFMANN, E. B. Objetos, Abstração, Estrutura de Dados e Projeto. LTC, 2008.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</a:rPr>
              <a:t>PEREIRA, Silvio do Lago. Estruturas de Dados Fundamentais – Conceitos e Aplicações. 12ª edição, 2ª reimpressão, São Paulo: Érica, 2009.</a:t>
            </a:r>
          </a:p>
        </p:txBody>
      </p:sp>
    </p:spTree>
    <p:extLst>
      <p:ext uri="{BB962C8B-B14F-4D97-AF65-F5344CB8AC3E}">
        <p14:creationId xmlns:p14="http://schemas.microsoft.com/office/powerpoint/2010/main" val="618183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9E411AC-F7D6-4045-9D06-FD33DAFB35D0}"/>
              </a:ext>
            </a:extLst>
          </p:cNvPr>
          <p:cNvSpPr txBox="1">
            <a:spLocks/>
          </p:cNvSpPr>
          <p:nvPr/>
        </p:nvSpPr>
        <p:spPr>
          <a:xfrm>
            <a:off x="0" y="233264"/>
            <a:ext cx="9144000" cy="53144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ESTRUTURA DE DADOS – 3º ADS</a:t>
            </a:r>
            <a:endParaRPr lang="pt-BR" sz="2000" b="1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91D69861-4453-53B4-7B7C-278BA7BA4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68" y="974742"/>
            <a:ext cx="3011184" cy="569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11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83071" y="2226344"/>
            <a:ext cx="85374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Tx/>
              <a:buChar char="-"/>
            </a:pPr>
            <a:r>
              <a:rPr lang="pt-BR" sz="2400" b="1" u="sng" dirty="0">
                <a:solidFill>
                  <a:schemeClr val="bg1"/>
                </a:solidFill>
              </a:rPr>
              <a:t>Nota do 1º Bimestre</a:t>
            </a:r>
          </a:p>
          <a:p>
            <a:pPr marL="457200" indent="-457200" algn="just">
              <a:buFontTx/>
              <a:buChar char="-"/>
            </a:pPr>
            <a:r>
              <a:rPr lang="pt-BR" sz="2400" dirty="0">
                <a:solidFill>
                  <a:schemeClr val="bg1"/>
                </a:solidFill>
              </a:rPr>
              <a:t>Trabalho (T1): (Valor 2,0)</a:t>
            </a:r>
          </a:p>
          <a:p>
            <a:pPr marL="457200" indent="-457200" algn="just">
              <a:buFontTx/>
              <a:buChar char="-"/>
            </a:pPr>
            <a:r>
              <a:rPr lang="pt-BR" sz="2400" dirty="0">
                <a:solidFill>
                  <a:schemeClr val="bg1"/>
                </a:solidFill>
              </a:rPr>
              <a:t>Prova (P1): Recursividade, Algoritmos de Ordenação e Busca. (Valor 8,0)</a:t>
            </a:r>
          </a:p>
          <a:p>
            <a:pPr marL="457200" indent="-457200" algn="just">
              <a:buFontTx/>
              <a:buChar char="-"/>
            </a:pPr>
            <a:endParaRPr lang="pt-BR" sz="2400" dirty="0">
              <a:solidFill>
                <a:schemeClr val="bg1"/>
              </a:solidFill>
            </a:endParaRPr>
          </a:p>
          <a:p>
            <a:pPr marL="457200" indent="-457200" algn="just">
              <a:buFontTx/>
              <a:buChar char="-"/>
            </a:pPr>
            <a:r>
              <a:rPr lang="pt-BR" sz="2400" b="1" u="sng" dirty="0">
                <a:solidFill>
                  <a:schemeClr val="bg1"/>
                </a:solidFill>
              </a:rPr>
              <a:t>Nota do 2º Bimestre</a:t>
            </a:r>
          </a:p>
          <a:p>
            <a:pPr marL="457200" indent="-457200" algn="just">
              <a:buFontTx/>
              <a:buChar char="-"/>
            </a:pPr>
            <a:r>
              <a:rPr lang="pt-BR" sz="2400" dirty="0">
                <a:solidFill>
                  <a:schemeClr val="bg1"/>
                </a:solidFill>
              </a:rPr>
              <a:t>Trabalho (T2): (Valor 2,0)</a:t>
            </a:r>
          </a:p>
          <a:p>
            <a:pPr marL="457200" indent="-457200" algn="just">
              <a:buFontTx/>
              <a:buChar char="-"/>
            </a:pPr>
            <a:r>
              <a:rPr lang="pt-BR" sz="2400" dirty="0">
                <a:solidFill>
                  <a:schemeClr val="bg1"/>
                </a:solidFill>
              </a:rPr>
              <a:t>Prova (P2): Pilha, Fila, Deque, Lista Encadeada e Árvore Binária. (Valor 8,0)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750E797-94C0-4463-9AD8-DC3E467F4979}"/>
              </a:ext>
            </a:extLst>
          </p:cNvPr>
          <p:cNvSpPr txBox="1">
            <a:spLocks/>
          </p:cNvSpPr>
          <p:nvPr/>
        </p:nvSpPr>
        <p:spPr>
          <a:xfrm>
            <a:off x="0" y="1313210"/>
            <a:ext cx="9144000" cy="53144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ESTRUTURA DE DADOS – 3º ADS</a:t>
            </a:r>
            <a:endParaRPr lang="pt-BR" sz="2000" b="1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2086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316</Words>
  <Application>Microsoft Office PowerPoint</Application>
  <PresentationFormat>Apresentação na tela (4:3)</PresentationFormat>
  <Paragraphs>30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Dreaming Outloud Script Pro</vt:lpstr>
      <vt:lpstr>Impact</vt:lpstr>
      <vt:lpstr>Inter</vt:lpstr>
      <vt:lpstr>Tema do Office</vt:lpstr>
      <vt:lpstr>“ESTRUTURA DE DADOS”</vt:lpstr>
      <vt:lpstr>Apresentação do PowerPoint</vt:lpstr>
      <vt:lpstr>“APRESENTAÇÃO”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85</cp:revision>
  <dcterms:created xsi:type="dcterms:W3CDTF">2020-01-22T14:41:03Z</dcterms:created>
  <dcterms:modified xsi:type="dcterms:W3CDTF">2026-08-08T12:45:54Z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0b4d-8a71-4241-982c-3816ad3ce8fc_Enabled">
    <vt:lpwstr>true</vt:lpwstr>
  </property>
  <property fmtid="{D5CDD505-2E9C-101B-9397-08002B2CF9AE}" pid="3" name="MSIP_Label_ff380b4d-8a71-4241-982c-3816ad3ce8fc_SetDate">
    <vt:lpwstr>2026-08-08T01:42:48Z</vt:lpwstr>
  </property>
  <property fmtid="{D5CDD505-2E9C-101B-9397-08002B2CF9AE}" pid="4" name="MSIP_Label_ff380b4d-8a71-4241-982c-3816ad3ce8fc_Method">
    <vt:lpwstr>Standard</vt:lpwstr>
  </property>
  <property fmtid="{D5CDD505-2E9C-101B-9397-08002B2CF9AE}" pid="5" name="MSIP_Label_ff380b4d-8a71-4241-982c-3816ad3ce8fc_Name">
    <vt:lpwstr>defa4170-0d19-0005-0004-bc88714345d2</vt:lpwstr>
  </property>
  <property fmtid="{D5CDD505-2E9C-101B-9397-08002B2CF9AE}" pid="6" name="MSIP_Label_ff380b4d-8a71-4241-982c-3816ad3ce8fc_SiteId">
    <vt:lpwstr>eabe64c5-68f5-4a76-8301-9577a679e449</vt:lpwstr>
  </property>
  <property fmtid="{D5CDD505-2E9C-101B-9397-08002B2CF9AE}" pid="7" name="MSIP_Label_ff380b4d-8a71-4241-982c-3816ad3ce8fc_ActionId">
    <vt:lpwstr>580f3cf2-c95a-4f32-971c-3eb50b51b006</vt:lpwstr>
  </property>
  <property fmtid="{D5CDD505-2E9C-101B-9397-08002B2CF9AE}" pid="8" name="MSIP_Label_ff380b4d-8a71-4241-982c-3816ad3ce8fc_ContentBits">
    <vt:lpwstr>0</vt:lpwstr>
  </property>
  <property fmtid="{D5CDD505-2E9C-101B-9397-08002B2CF9AE}" pid="9" name="MSIP_Label_ff380b4d-8a71-4241-982c-3816ad3ce8fc_Tag">
    <vt:lpwstr>10, 3, 0, 1</vt:lpwstr>
  </property>
</Properties>
</file>