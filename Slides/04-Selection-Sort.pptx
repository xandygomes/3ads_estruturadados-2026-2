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9" r:id="rId2"/>
    <p:sldId id="286" r:id="rId3"/>
    <p:sldId id="287" r:id="rId4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66"/>
    <a:srgbClr val="E11F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62" autoAdjust="0"/>
    <p:restoredTop sz="93238" autoAdjust="0"/>
  </p:normalViewPr>
  <p:slideViewPr>
    <p:cSldViewPr>
      <p:cViewPr varScale="1">
        <p:scale>
          <a:sx n="73" d="100"/>
          <a:sy n="73" d="100"/>
        </p:scale>
        <p:origin x="1661" y="4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29/08/2026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039821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29/08/2026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480522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29/08/2026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14839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29/08/2026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280099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29/08/2026</a:t>
            </a:fld>
            <a:endParaRPr lang="pt-BR" dirty="0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770072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29/08/2026</a:t>
            </a:fld>
            <a:endParaRPr lang="pt-BR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077456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29/08/2026</a:t>
            </a:fld>
            <a:endParaRPr lang="pt-BR" dirty="0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502439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29/08/2026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936557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29/08/2026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397093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29/08/2026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461165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29/08/2026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983875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61563A-35C7-49EE-9FEB-8EB53781E0B1}" type="datetimeFigureOut">
              <a:rPr lang="pt-BR" smtClean="0"/>
              <a:t>29/08/2026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735079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Agrupar 15">
            <a:extLst>
              <a:ext uri="{FF2B5EF4-FFF2-40B4-BE49-F238E27FC236}">
                <a16:creationId xmlns:a16="http://schemas.microsoft.com/office/drawing/2014/main" id="{C793E54F-88E8-16E3-AA0D-CA57A2948CC9}"/>
              </a:ext>
            </a:extLst>
          </p:cNvPr>
          <p:cNvGrpSpPr/>
          <p:nvPr/>
        </p:nvGrpSpPr>
        <p:grpSpPr>
          <a:xfrm>
            <a:off x="3528742" y="1011208"/>
            <a:ext cx="5507754" cy="4013036"/>
            <a:chOff x="3528742" y="1038240"/>
            <a:chExt cx="5507754" cy="4013036"/>
          </a:xfrm>
        </p:grpSpPr>
        <p:pic>
          <p:nvPicPr>
            <p:cNvPr id="1026" name="Picture 2" descr="Resultado de imagem para JS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808" t="10773" r="19724" b="10902"/>
            <a:stretch/>
          </p:blipFill>
          <p:spPr bwMode="auto">
            <a:xfrm>
              <a:off x="3528742" y="1038240"/>
              <a:ext cx="5507754" cy="40130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2" descr="Resultado de imagem para JS">
              <a:extLst>
                <a:ext uri="{FF2B5EF4-FFF2-40B4-BE49-F238E27FC236}">
                  <a16:creationId xmlns:a16="http://schemas.microsoft.com/office/drawing/2014/main" id="{AE6353BD-0D9E-22B7-E114-31FF25F9C44C}"/>
                </a:ext>
              </a:extLst>
            </p:cNvPr>
            <p:cNvPicPr>
              <a:picLocks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297" t="45124" r="41422" b="38398"/>
            <a:stretch>
              <a:fillRect/>
            </a:stretch>
          </p:blipFill>
          <p:spPr bwMode="auto">
            <a:xfrm rot="2875517">
              <a:off x="7359489" y="3058432"/>
              <a:ext cx="413298" cy="6102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2" descr="Resultado de imagem para JS">
              <a:extLst>
                <a:ext uri="{FF2B5EF4-FFF2-40B4-BE49-F238E27FC236}">
                  <a16:creationId xmlns:a16="http://schemas.microsoft.com/office/drawing/2014/main" id="{54641B3D-597E-C89B-D0C1-01DBB3BBC52B}"/>
                </a:ext>
              </a:extLst>
            </p:cNvPr>
            <p:cNvPicPr>
              <a:picLocks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297" t="45124" r="41422" b="38398"/>
            <a:stretch>
              <a:fillRect/>
            </a:stretch>
          </p:blipFill>
          <p:spPr bwMode="auto">
            <a:xfrm rot="2875517">
              <a:off x="7133133" y="2833662"/>
              <a:ext cx="413298" cy="6102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2" descr="Resultado de imagem para JS">
              <a:extLst>
                <a:ext uri="{FF2B5EF4-FFF2-40B4-BE49-F238E27FC236}">
                  <a16:creationId xmlns:a16="http://schemas.microsoft.com/office/drawing/2014/main" id="{4818BC0B-525A-7E91-FBA6-B396B9AE2A7F}"/>
                </a:ext>
              </a:extLst>
            </p:cNvPr>
            <p:cNvPicPr>
              <a:picLocks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297" t="45124" r="41422" b="38398"/>
            <a:stretch>
              <a:fillRect/>
            </a:stretch>
          </p:blipFill>
          <p:spPr bwMode="auto">
            <a:xfrm rot="2875517">
              <a:off x="7085980" y="3353357"/>
              <a:ext cx="413298" cy="6102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0" y="5229200"/>
            <a:ext cx="9144000" cy="1628800"/>
          </a:xfrm>
          <a:solidFill>
            <a:srgbClr val="FFFF00"/>
          </a:solidFill>
        </p:spPr>
        <p:txBody>
          <a:bodyPr>
            <a:noAutofit/>
          </a:bodyPr>
          <a:lstStyle/>
          <a:p>
            <a:r>
              <a:rPr lang="pt-BR" sz="6600" dirty="0">
                <a:solidFill>
                  <a:srgbClr val="7030A0"/>
                </a:solidFill>
                <a:latin typeface="Impact" panose="020B0806030902050204" pitchFamily="34" charset="0"/>
                <a:cs typeface="Arial" pitchFamily="34" charset="0"/>
              </a:rPr>
              <a:t>“</a:t>
            </a:r>
            <a:r>
              <a:rPr lang="pt-BR" sz="6600" dirty="0">
                <a:latin typeface="Impact" panose="020B0806030902050204" pitchFamily="34" charset="0"/>
                <a:cs typeface="Arial" pitchFamily="34" charset="0"/>
              </a:rPr>
              <a:t>SELECTION SORT</a:t>
            </a:r>
            <a:r>
              <a:rPr lang="pt-BR" sz="6600" dirty="0">
                <a:solidFill>
                  <a:srgbClr val="7030A0"/>
                </a:solidFill>
                <a:latin typeface="Impact" panose="020B0806030902050204" pitchFamily="34" charset="0"/>
                <a:cs typeface="Arial" pitchFamily="34" charset="0"/>
              </a:rPr>
              <a:t>”</a:t>
            </a:r>
            <a:endParaRPr lang="pt-BR" sz="4000" b="1" dirty="0">
              <a:solidFill>
                <a:srgbClr val="7030A0"/>
              </a:solidFill>
              <a:latin typeface="Impact" panose="020B0806030902050204" pitchFamily="34" charset="0"/>
              <a:cs typeface="Arial" pitchFamily="34" charset="0"/>
            </a:endParaRPr>
          </a:p>
        </p:txBody>
      </p:sp>
      <p:sp useBgFill="1">
        <p:nvSpPr>
          <p:cNvPr id="7" name="CaixaDeTexto 6"/>
          <p:cNvSpPr txBox="1"/>
          <p:nvPr/>
        </p:nvSpPr>
        <p:spPr>
          <a:xfrm>
            <a:off x="35496" y="3302056"/>
            <a:ext cx="3811040" cy="1077218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r"/>
            <a:r>
              <a:rPr lang="pt-BR" sz="3200" dirty="0">
                <a:solidFill>
                  <a:srgbClr val="E11F3B"/>
                </a:solidFill>
                <a:latin typeface="Dreaming Outloud Script Pro" panose="03050502040304050704" pitchFamily="66" charset="0"/>
                <a:cs typeface="Dreaming Outloud Script Pro" panose="03050502040304050704" pitchFamily="66" charset="0"/>
              </a:rPr>
              <a:t>Prof.º</a:t>
            </a:r>
          </a:p>
          <a:p>
            <a:pPr algn="r"/>
            <a:r>
              <a:rPr lang="pt-BR" sz="3200" dirty="0">
                <a:solidFill>
                  <a:srgbClr val="E11F3B"/>
                </a:solidFill>
                <a:latin typeface="Dreaming Outloud Script Pro" panose="03050502040304050704" pitchFamily="66" charset="0"/>
                <a:cs typeface="Dreaming Outloud Script Pro" panose="03050502040304050704" pitchFamily="66" charset="0"/>
              </a:rPr>
              <a:t>Alexandre Gomes</a:t>
            </a:r>
          </a:p>
        </p:txBody>
      </p:sp>
      <p:sp>
        <p:nvSpPr>
          <p:cNvPr id="3" name="Retângulo 2"/>
          <p:cNvSpPr/>
          <p:nvPr/>
        </p:nvSpPr>
        <p:spPr>
          <a:xfrm>
            <a:off x="189672" y="4232156"/>
            <a:ext cx="388843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000" dirty="0">
                <a:solidFill>
                  <a:srgbClr val="00B0F0"/>
                </a:solidFill>
              </a:rPr>
              <a:t>alexandre.</a:t>
            </a:r>
            <a:r>
              <a:rPr lang="pt-BR" sz="2000" dirty="0">
                <a:solidFill>
                  <a:srgbClr val="FFFF00"/>
                </a:solidFill>
              </a:rPr>
              <a:t>silva</a:t>
            </a:r>
            <a:r>
              <a:rPr lang="pt-BR" sz="2000" dirty="0">
                <a:solidFill>
                  <a:srgbClr val="00B050"/>
                </a:solidFill>
              </a:rPr>
              <a:t>09</a:t>
            </a:r>
            <a:r>
              <a:rPr lang="pt-BR" sz="2000" dirty="0">
                <a:solidFill>
                  <a:srgbClr val="7030A0"/>
                </a:solidFill>
              </a:rPr>
              <a:t>@cps.</a:t>
            </a:r>
            <a:r>
              <a:rPr lang="pt-BR" sz="2000" dirty="0">
                <a:solidFill>
                  <a:schemeClr val="bg1"/>
                </a:solidFill>
              </a:rPr>
              <a:t>sp.</a:t>
            </a:r>
            <a:r>
              <a:rPr lang="pt-BR" sz="2000" dirty="0">
                <a:solidFill>
                  <a:schemeClr val="accent6">
                    <a:lumMod val="75000"/>
                  </a:schemeClr>
                </a:solidFill>
              </a:rPr>
              <a:t>gov.</a:t>
            </a:r>
            <a:r>
              <a:rPr lang="pt-BR" sz="2000" dirty="0">
                <a:solidFill>
                  <a:srgbClr val="FF0066"/>
                </a:solidFill>
              </a:rPr>
              <a:t>br</a:t>
            </a:r>
          </a:p>
        </p:txBody>
      </p:sp>
      <p:pic>
        <p:nvPicPr>
          <p:cNvPr id="4" name="Picture 2" descr="Java (programming language) - Wikipedia">
            <a:extLst>
              <a:ext uri="{FF2B5EF4-FFF2-40B4-BE49-F238E27FC236}">
                <a16:creationId xmlns:a16="http://schemas.microsoft.com/office/drawing/2014/main" id="{B58762D3-4FA3-88CD-AEF6-E8F4E8AD1F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7939" y="1163042"/>
            <a:ext cx="960888" cy="1761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 descr="Using Cordova with Apache NetBeans | Andres Zsogon">
            <a:extLst>
              <a:ext uri="{FF2B5EF4-FFF2-40B4-BE49-F238E27FC236}">
                <a16:creationId xmlns:a16="http://schemas.microsoft.com/office/drawing/2014/main" id="{7C5D3942-F637-1A16-B327-C695A61FE7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394" y="342613"/>
            <a:ext cx="3035980" cy="948744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srgbClr val="FFFF00"/>
            </a:outerShdw>
            <a:softEdge rad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8" name="Picture 24" descr="Ícones, Logotipos, Símbolos de Java – Baixe gratuitamente em PNG, SVG">
            <a:extLst>
              <a:ext uri="{FF2B5EF4-FFF2-40B4-BE49-F238E27FC236}">
                <a16:creationId xmlns:a16="http://schemas.microsoft.com/office/drawing/2014/main" id="{9207BAD6-AB33-0C8A-2137-7DB694BC7A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017503">
            <a:off x="6312503" y="2467666"/>
            <a:ext cx="1453079" cy="1453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Imagem 18" descr="Texto, Logotipo&#10;&#10;O conteúdo gerado por IA pode estar incorreto.">
            <a:extLst>
              <a:ext uri="{FF2B5EF4-FFF2-40B4-BE49-F238E27FC236}">
                <a16:creationId xmlns:a16="http://schemas.microsoft.com/office/drawing/2014/main" id="{FD5247E8-68CC-43A6-DA12-BEB3EED2230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4114" y="4557915"/>
            <a:ext cx="2093870" cy="655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5070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324544" y="188640"/>
            <a:ext cx="8494912" cy="63094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4000" dirty="0">
                <a:solidFill>
                  <a:srgbClr val="FFFF00"/>
                </a:solidFill>
              </a:rPr>
              <a:t>ALGORITMO DE ORDENAÇÃO SELECTION-SORT</a:t>
            </a:r>
          </a:p>
          <a:p>
            <a:pPr algn="just"/>
            <a:endParaRPr lang="pt-BR" sz="3600" dirty="0">
              <a:solidFill>
                <a:srgbClr val="FF0066"/>
              </a:solidFill>
            </a:endParaRPr>
          </a:p>
          <a:p>
            <a:pPr algn="just"/>
            <a:r>
              <a:rPr lang="pt-BR" sz="3600" dirty="0">
                <a:solidFill>
                  <a:srgbClr val="FF0066"/>
                </a:solidFill>
              </a:rPr>
              <a:t>Trata-se de uma otimização do </a:t>
            </a:r>
            <a:r>
              <a:rPr lang="pt-BR" sz="3600" dirty="0" err="1">
                <a:solidFill>
                  <a:srgbClr val="FF0066"/>
                </a:solidFill>
              </a:rPr>
              <a:t>bubble</a:t>
            </a:r>
            <a:r>
              <a:rPr lang="pt-BR" sz="3600" dirty="0">
                <a:solidFill>
                  <a:srgbClr val="FF0066"/>
                </a:solidFill>
              </a:rPr>
              <a:t> </a:t>
            </a:r>
            <a:r>
              <a:rPr lang="pt-BR" sz="3600" dirty="0" err="1">
                <a:solidFill>
                  <a:srgbClr val="FF0066"/>
                </a:solidFill>
              </a:rPr>
              <a:t>sort</a:t>
            </a:r>
            <a:r>
              <a:rPr lang="pt-BR" sz="3600" dirty="0">
                <a:solidFill>
                  <a:srgbClr val="FF0066"/>
                </a:solidFill>
              </a:rPr>
              <a:t>, diminuindo drasticamente o número de trocas necessárias para fazer a ordenação.</a:t>
            </a:r>
          </a:p>
          <a:p>
            <a:pPr algn="just"/>
            <a:endParaRPr lang="pt-BR" sz="3600" dirty="0">
              <a:solidFill>
                <a:srgbClr val="FF0066"/>
              </a:solidFill>
            </a:endParaRPr>
          </a:p>
          <a:p>
            <a:pPr algn="just"/>
            <a:r>
              <a:rPr lang="pt-BR" sz="3600" dirty="0">
                <a:solidFill>
                  <a:srgbClr val="FF0066"/>
                </a:solidFill>
              </a:rPr>
              <a:t>Isola um dos valores do vetor e procura pelo menor valor entre os restantes, promovendo a troca caso o primeiro valor seja maior que o segundo.</a:t>
            </a:r>
            <a:endParaRPr lang="pt-BR" sz="3200" dirty="0">
              <a:solidFill>
                <a:srgbClr val="FF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13489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 74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7" name="Freeform: Shape 76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282117" y="-253670"/>
            <a:ext cx="137072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668730" y="422146"/>
            <a:ext cx="484026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532611" y="655140"/>
            <a:ext cx="515604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Freeform: Shape 82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5" name="Isosceles Triangle 84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82258" y="6115501"/>
            <a:ext cx="1120884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0" name="Picture 6" descr="Selection Sort in JavaScript | LaptrinhX">
            <a:extLst>
              <a:ext uri="{FF2B5EF4-FFF2-40B4-BE49-F238E27FC236}">
                <a16:creationId xmlns:a16="http://schemas.microsoft.com/office/drawing/2014/main" id="{AF64C9A6-9F29-4EA8-807A-2FBBF12557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97433" y="1484784"/>
            <a:ext cx="8107015" cy="46199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7" name="Isosceles Triangle 86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03060" y="6453143"/>
            <a:ext cx="611177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50740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526</TotalTime>
  <Words>72</Words>
  <Application>Microsoft Office PowerPoint</Application>
  <PresentationFormat>Apresentação na tela (4:3)</PresentationFormat>
  <Paragraphs>9</Paragraphs>
  <Slides>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8" baseType="lpstr">
      <vt:lpstr>Arial</vt:lpstr>
      <vt:lpstr>Calibri</vt:lpstr>
      <vt:lpstr>Dreaming Outloud Script Pro</vt:lpstr>
      <vt:lpstr>Impact</vt:lpstr>
      <vt:lpstr>Tema do Office</vt:lpstr>
      <vt:lpstr>“SELECTION SORT”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JavaScritp</dc:title>
  <dc:creator>Alexandre Gomes</dc:creator>
  <cp:lastModifiedBy>ALEXANDRE GOMES DA SILVA</cp:lastModifiedBy>
  <cp:revision>63</cp:revision>
  <dcterms:created xsi:type="dcterms:W3CDTF">2020-01-22T14:41:03Z</dcterms:created>
  <dcterms:modified xsi:type="dcterms:W3CDTF">2026-08-29T12:51:23Z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f380b4d-8a71-4241-982c-3816ad3ce8fc_Enabled">
    <vt:lpwstr>true</vt:lpwstr>
  </property>
  <property fmtid="{D5CDD505-2E9C-101B-9397-08002B2CF9AE}" pid="3" name="MSIP_Label_ff380b4d-8a71-4241-982c-3816ad3ce8fc_SetDate">
    <vt:lpwstr>2026-08-29T12:51:22Z</vt:lpwstr>
  </property>
  <property fmtid="{D5CDD505-2E9C-101B-9397-08002B2CF9AE}" pid="4" name="MSIP_Label_ff380b4d-8a71-4241-982c-3816ad3ce8fc_Method">
    <vt:lpwstr>Standard</vt:lpwstr>
  </property>
  <property fmtid="{D5CDD505-2E9C-101B-9397-08002B2CF9AE}" pid="5" name="MSIP_Label_ff380b4d-8a71-4241-982c-3816ad3ce8fc_Name">
    <vt:lpwstr>defa4170-0d19-0005-0004-bc88714345d2</vt:lpwstr>
  </property>
  <property fmtid="{D5CDD505-2E9C-101B-9397-08002B2CF9AE}" pid="6" name="MSIP_Label_ff380b4d-8a71-4241-982c-3816ad3ce8fc_SiteId">
    <vt:lpwstr>eabe64c5-68f5-4a76-8301-9577a679e449</vt:lpwstr>
  </property>
  <property fmtid="{D5CDD505-2E9C-101B-9397-08002B2CF9AE}" pid="7" name="MSIP_Label_ff380b4d-8a71-4241-982c-3816ad3ce8fc_ActionId">
    <vt:lpwstr>543e7cb2-8bb3-4ad1-9064-e807ebe726a9</vt:lpwstr>
  </property>
  <property fmtid="{D5CDD505-2E9C-101B-9397-08002B2CF9AE}" pid="8" name="MSIP_Label_ff380b4d-8a71-4241-982c-3816ad3ce8fc_ContentBits">
    <vt:lpwstr>0</vt:lpwstr>
  </property>
  <property fmtid="{D5CDD505-2E9C-101B-9397-08002B2CF9AE}" pid="9" name="MSIP_Label_ff380b4d-8a71-4241-982c-3816ad3ce8fc_Tag">
    <vt:lpwstr>10, 3, 0, 1</vt:lpwstr>
  </property>
</Properties>
</file>