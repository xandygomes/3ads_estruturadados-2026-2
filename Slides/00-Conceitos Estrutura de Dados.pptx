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1" r:id="rId3"/>
    <p:sldId id="282" r:id="rId4"/>
    <p:sldId id="283" r:id="rId5"/>
    <p:sldId id="284" r:id="rId6"/>
    <p:sldId id="285" r:id="rId7"/>
    <p:sldId id="286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4800" b="1" dirty="0">
                <a:latin typeface="Impact" panose="020B0806030902050204" pitchFamily="34" charset="0"/>
                <a:cs typeface="Arial" pitchFamily="34" charset="0"/>
              </a:rPr>
              <a:t>CONCEITOS ESTRUTURA DE DADOS</a:t>
            </a:r>
            <a:r>
              <a:rPr lang="pt-BR" sz="4800" b="1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28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09</a:t>
            </a:r>
            <a:r>
              <a:rPr lang="pt-BR" sz="2000" dirty="0">
                <a:solidFill>
                  <a:srgbClr val="7030A0"/>
                </a:solidFill>
              </a:rPr>
              <a:t>@cps.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94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16632"/>
            <a:ext cx="84949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solidFill>
                  <a:srgbClr val="FFFF00"/>
                </a:solidFill>
              </a:rPr>
              <a:t>O que são estruturas de dados?</a:t>
            </a:r>
          </a:p>
          <a:p>
            <a:pPr algn="just"/>
            <a:endParaRPr lang="pt-BR" sz="1600" dirty="0">
              <a:solidFill>
                <a:srgbClr val="FF0066"/>
              </a:solidFill>
            </a:endParaRP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Em computação, normalmente utilizamos os dados de forma conjunta.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Uma estrutura de dados, é uma coleção tanto de valores quanto de operações.</a:t>
            </a:r>
          </a:p>
        </p:txBody>
      </p:sp>
      <p:pic>
        <p:nvPicPr>
          <p:cNvPr id="2056" name="Picture 8" descr="Estrutura de dados: pilha">
            <a:extLst>
              <a:ext uri="{FF2B5EF4-FFF2-40B4-BE49-F238E27FC236}">
                <a16:creationId xmlns:a16="http://schemas.microsoft.com/office/drawing/2014/main" id="{ADCB9A8F-C83B-4228-A8D6-4EAC268C7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254020"/>
            <a:ext cx="4896544" cy="3415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876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443548"/>
            <a:ext cx="849491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solidFill>
                  <a:srgbClr val="FFFF00"/>
                </a:solidFill>
              </a:rPr>
              <a:t>“Podemos afirmar que um programa é composto de algoritmos e estruturas de dados, que juntos fazem com que o programa funcione como deve.”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075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800" dirty="0">
                <a:solidFill>
                  <a:srgbClr val="FFFF00"/>
                </a:solidFill>
              </a:rPr>
              <a:t>Cada estrutura de dados tem um conjunto de métodos próprios para realizar operações como:</a:t>
            </a:r>
            <a:endParaRPr lang="pt-BR" sz="5400" dirty="0">
              <a:solidFill>
                <a:srgbClr val="FFFF00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&gt; Inserir ou excluir elementos;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&gt; Buscar e localizar elementos;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&gt; Ordenar (classificar) elementos de acordo com alguma ordem especificada.</a:t>
            </a:r>
          </a:p>
        </p:txBody>
      </p:sp>
    </p:spTree>
    <p:extLst>
      <p:ext uri="{BB962C8B-B14F-4D97-AF65-F5344CB8AC3E}">
        <p14:creationId xmlns:p14="http://schemas.microsoft.com/office/powerpoint/2010/main" val="285970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Características das estruturas de dados</a:t>
            </a:r>
            <a:endParaRPr lang="pt-BR" sz="2800" dirty="0">
              <a:solidFill>
                <a:srgbClr val="FF0066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As estruturas de dados podem ser: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lineares</a:t>
            </a:r>
            <a:r>
              <a:rPr lang="pt-BR" sz="3200" dirty="0">
                <a:solidFill>
                  <a:srgbClr val="FF0066"/>
                </a:solidFill>
              </a:rPr>
              <a:t> (ex. </a:t>
            </a:r>
            <a:r>
              <a:rPr lang="pt-BR" sz="3200" dirty="0" err="1">
                <a:solidFill>
                  <a:srgbClr val="FF0066"/>
                </a:solidFill>
              </a:rPr>
              <a:t>arrays</a:t>
            </a:r>
            <a:r>
              <a:rPr lang="pt-BR" sz="3200" dirty="0">
                <a:solidFill>
                  <a:srgbClr val="FF0066"/>
                </a:solidFill>
              </a:rPr>
              <a:t>) ou </a:t>
            </a:r>
            <a:r>
              <a:rPr lang="pt-BR" sz="3200" u="sng" dirty="0">
                <a:solidFill>
                  <a:srgbClr val="FF0066"/>
                </a:solidFill>
              </a:rPr>
              <a:t>não lineares</a:t>
            </a:r>
            <a:r>
              <a:rPr lang="pt-BR" sz="3200" dirty="0">
                <a:solidFill>
                  <a:srgbClr val="FF0066"/>
                </a:solidFill>
              </a:rPr>
              <a:t> (ex. grafos);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homogêneas</a:t>
            </a:r>
            <a:r>
              <a:rPr lang="pt-BR" sz="3200" dirty="0">
                <a:solidFill>
                  <a:srgbClr val="FF0066"/>
                </a:solidFill>
              </a:rPr>
              <a:t> (todos os dados que compõe a estrutura são do mesmo tipo) ou </a:t>
            </a:r>
            <a:r>
              <a:rPr lang="pt-BR" sz="3200" u="sng" dirty="0">
                <a:solidFill>
                  <a:srgbClr val="FF0066"/>
                </a:solidFill>
              </a:rPr>
              <a:t>heterogêneas</a:t>
            </a:r>
            <a:r>
              <a:rPr lang="pt-BR" sz="3200" dirty="0">
                <a:solidFill>
                  <a:srgbClr val="FF0066"/>
                </a:solidFill>
              </a:rPr>
              <a:t> (podem conter dados de vários tipos);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estáticas</a:t>
            </a:r>
            <a:r>
              <a:rPr lang="pt-BR" sz="3200" dirty="0">
                <a:solidFill>
                  <a:srgbClr val="FF0066"/>
                </a:solidFill>
              </a:rPr>
              <a:t> (têm tamanho/capacidade de memória fixa) ou </a:t>
            </a:r>
            <a:r>
              <a:rPr lang="pt-BR" sz="3200" u="sng" dirty="0">
                <a:solidFill>
                  <a:srgbClr val="FF0066"/>
                </a:solidFill>
              </a:rPr>
              <a:t>dinâmicas</a:t>
            </a:r>
            <a:r>
              <a:rPr lang="pt-BR" sz="3200" dirty="0">
                <a:solidFill>
                  <a:srgbClr val="FF0066"/>
                </a:solidFill>
              </a:rPr>
              <a:t> (podem expandir).</a:t>
            </a:r>
          </a:p>
        </p:txBody>
      </p:sp>
    </p:spTree>
    <p:extLst>
      <p:ext uri="{BB962C8B-B14F-4D97-AF65-F5344CB8AC3E}">
        <p14:creationId xmlns:p14="http://schemas.microsoft.com/office/powerpoint/2010/main" val="13692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Características das estruturas de dados</a:t>
            </a:r>
            <a:endParaRPr lang="pt-BR" sz="2800" dirty="0">
              <a:solidFill>
                <a:srgbClr val="FF0066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As estruturas de dados podem ser: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lineares</a:t>
            </a:r>
            <a:r>
              <a:rPr lang="pt-BR" sz="3200" dirty="0">
                <a:solidFill>
                  <a:srgbClr val="FF0066"/>
                </a:solidFill>
              </a:rPr>
              <a:t> (ex. </a:t>
            </a:r>
            <a:r>
              <a:rPr lang="pt-BR" sz="3200" dirty="0" err="1">
                <a:solidFill>
                  <a:srgbClr val="FF0066"/>
                </a:solidFill>
              </a:rPr>
              <a:t>arrays</a:t>
            </a:r>
            <a:r>
              <a:rPr lang="pt-BR" sz="3200" dirty="0">
                <a:solidFill>
                  <a:srgbClr val="FF0066"/>
                </a:solidFill>
              </a:rPr>
              <a:t>) ou </a:t>
            </a:r>
            <a:r>
              <a:rPr lang="pt-BR" sz="3200" u="sng" dirty="0">
                <a:solidFill>
                  <a:srgbClr val="FF0066"/>
                </a:solidFill>
              </a:rPr>
              <a:t>não lineares</a:t>
            </a:r>
            <a:r>
              <a:rPr lang="pt-BR" sz="3200" dirty="0">
                <a:solidFill>
                  <a:srgbClr val="FF0066"/>
                </a:solidFill>
              </a:rPr>
              <a:t> (ex. grafos);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homogêneas</a:t>
            </a:r>
            <a:r>
              <a:rPr lang="pt-BR" sz="3200" dirty="0">
                <a:solidFill>
                  <a:srgbClr val="FF0066"/>
                </a:solidFill>
              </a:rPr>
              <a:t> (todos os dados que compõe a estrutura são do mesmo tipo) ou </a:t>
            </a:r>
            <a:r>
              <a:rPr lang="pt-BR" sz="3200" u="sng" dirty="0">
                <a:solidFill>
                  <a:srgbClr val="FF0066"/>
                </a:solidFill>
              </a:rPr>
              <a:t>heterogêneas</a:t>
            </a:r>
            <a:r>
              <a:rPr lang="pt-BR" sz="3200" dirty="0">
                <a:solidFill>
                  <a:srgbClr val="FF0066"/>
                </a:solidFill>
              </a:rPr>
              <a:t> (podem conter dados de vários tipos);</a:t>
            </a:r>
          </a:p>
          <a:p>
            <a:pPr algn="just"/>
            <a:r>
              <a:rPr lang="pt-BR" sz="3200" dirty="0">
                <a:solidFill>
                  <a:srgbClr val="FF0066"/>
                </a:solidFill>
              </a:rPr>
              <a:t>&gt; </a:t>
            </a:r>
            <a:r>
              <a:rPr lang="pt-BR" sz="3200" u="sng" dirty="0">
                <a:solidFill>
                  <a:srgbClr val="FF0066"/>
                </a:solidFill>
              </a:rPr>
              <a:t>estáticas</a:t>
            </a:r>
            <a:r>
              <a:rPr lang="pt-BR" sz="3200" dirty="0">
                <a:solidFill>
                  <a:srgbClr val="FF0066"/>
                </a:solidFill>
              </a:rPr>
              <a:t> (têm tamanho/capacidade de memória fixa) ou </a:t>
            </a:r>
            <a:r>
              <a:rPr lang="pt-BR" sz="3200" u="sng" dirty="0">
                <a:solidFill>
                  <a:srgbClr val="FF0066"/>
                </a:solidFill>
              </a:rPr>
              <a:t>dinâmicas</a:t>
            </a:r>
            <a:r>
              <a:rPr lang="pt-BR" sz="3200" dirty="0">
                <a:solidFill>
                  <a:srgbClr val="FF0066"/>
                </a:solidFill>
              </a:rPr>
              <a:t> (podem expandir).</a:t>
            </a:r>
          </a:p>
        </p:txBody>
      </p:sp>
    </p:spTree>
    <p:extLst>
      <p:ext uri="{BB962C8B-B14F-4D97-AF65-F5344CB8AC3E}">
        <p14:creationId xmlns:p14="http://schemas.microsoft.com/office/powerpoint/2010/main" val="125620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 err="1">
                <a:solidFill>
                  <a:srgbClr val="FFFF00"/>
                </a:solidFill>
              </a:rPr>
              <a:t>Array</a:t>
            </a:r>
            <a:endParaRPr lang="pt-BR" sz="3600" dirty="0">
              <a:solidFill>
                <a:srgbClr val="FF0066"/>
              </a:solidFill>
            </a:endParaRP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Também chamado de vetor, matriz ou </a:t>
            </a:r>
            <a:r>
              <a:rPr lang="pt-BR" sz="3600" i="1" dirty="0">
                <a:solidFill>
                  <a:srgbClr val="FF0066"/>
                </a:solidFill>
              </a:rPr>
              <a:t>arranjo</a:t>
            </a:r>
            <a:r>
              <a:rPr lang="pt-BR" sz="3600" dirty="0">
                <a:solidFill>
                  <a:srgbClr val="FF0066"/>
                </a:solidFill>
              </a:rPr>
              <a:t>, o </a:t>
            </a:r>
            <a:r>
              <a:rPr lang="pt-BR" sz="3600" dirty="0" err="1">
                <a:solidFill>
                  <a:srgbClr val="FF0066"/>
                </a:solidFill>
              </a:rPr>
              <a:t>array</a:t>
            </a:r>
            <a:r>
              <a:rPr lang="pt-BR" sz="3600" dirty="0">
                <a:solidFill>
                  <a:srgbClr val="FF0066"/>
                </a:solidFill>
              </a:rPr>
              <a:t> é a mais comum das estruturas de dados.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Um </a:t>
            </a:r>
            <a:r>
              <a:rPr lang="pt-BR" sz="3600" dirty="0" err="1">
                <a:solidFill>
                  <a:srgbClr val="FF0066"/>
                </a:solidFill>
              </a:rPr>
              <a:t>array</a:t>
            </a:r>
            <a:r>
              <a:rPr lang="pt-BR" sz="3600" dirty="0">
                <a:solidFill>
                  <a:srgbClr val="FF0066"/>
                </a:solidFill>
              </a:rPr>
              <a:t> é uma lista de valores:</a:t>
            </a:r>
          </a:p>
          <a:p>
            <a:pPr algn="just"/>
            <a:endParaRPr lang="pt-BR" sz="3200" dirty="0">
              <a:solidFill>
                <a:srgbClr val="FF0066"/>
              </a:solidFill>
            </a:endParaRPr>
          </a:p>
          <a:p>
            <a:pPr algn="just"/>
            <a:endParaRPr lang="pt-BR" sz="3200" dirty="0">
              <a:solidFill>
                <a:srgbClr val="FF0066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34F46-7945-4713-8F72-A9AD89025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0" y="4354513"/>
            <a:ext cx="8568000" cy="140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</a:rPr>
              <a:t>const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listaNumeros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= [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4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6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2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77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1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986801"/>
                </a:solidFill>
                <a:effectLst/>
                <a:latin typeface="Arial Unicode MS"/>
              </a:rPr>
              <a:t>0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];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</a:rPr>
              <a:t>const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</a:t>
            </a:r>
            <a:r>
              <a:rPr kumimoji="0" lang="pt-BR" altLang="pt-BR" sz="32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listaFrutas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 = [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</a:rPr>
              <a:t>"banana"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</a:rPr>
              <a:t>"maçã"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, 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50A14F"/>
                </a:solidFill>
                <a:effectLst/>
                <a:latin typeface="Arial Unicode MS"/>
              </a:rPr>
              <a:t>"pera"</a:t>
            </a:r>
            <a:r>
              <a:rPr kumimoji="0" lang="pt-BR" altLang="pt-BR" sz="32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</a:rPr>
              <a:t>];</a:t>
            </a:r>
            <a:endParaRPr kumimoji="0" lang="pt-BR" altLang="pt-BR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316</Words>
  <Application>Microsoft Office PowerPoint</Application>
  <PresentationFormat>Apresentação na tela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Arial Unicode MS</vt:lpstr>
      <vt:lpstr>Calibri</vt:lpstr>
      <vt:lpstr>Dreaming Outloud Script Pro</vt:lpstr>
      <vt:lpstr>Impact</vt:lpstr>
      <vt:lpstr>Tema do Office</vt:lpstr>
      <vt:lpstr>“CONCEITOS ESTRUTURA DE DADOS”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53</cp:revision>
  <dcterms:created xsi:type="dcterms:W3CDTF">2020-01-22T14:41:03Z</dcterms:created>
  <dcterms:modified xsi:type="dcterms:W3CDTF">2026-08-08T01:47:24Z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f380b4d-8a71-4241-982c-3816ad3ce8fc_Enabled">
    <vt:lpwstr>true</vt:lpwstr>
  </property>
  <property fmtid="{D5CDD505-2E9C-101B-9397-08002B2CF9AE}" pid="3" name="MSIP_Label_ff380b4d-8a71-4241-982c-3816ad3ce8fc_SetDate">
    <vt:lpwstr>2026-08-08T01:47:18Z</vt:lpwstr>
  </property>
  <property fmtid="{D5CDD505-2E9C-101B-9397-08002B2CF9AE}" pid="4" name="MSIP_Label_ff380b4d-8a71-4241-982c-3816ad3ce8fc_Method">
    <vt:lpwstr>Standard</vt:lpwstr>
  </property>
  <property fmtid="{D5CDD505-2E9C-101B-9397-08002B2CF9AE}" pid="5" name="MSIP_Label_ff380b4d-8a71-4241-982c-3816ad3ce8fc_Name">
    <vt:lpwstr>defa4170-0d19-0005-0004-bc88714345d2</vt:lpwstr>
  </property>
  <property fmtid="{D5CDD505-2E9C-101B-9397-08002B2CF9AE}" pid="6" name="MSIP_Label_ff380b4d-8a71-4241-982c-3816ad3ce8fc_SiteId">
    <vt:lpwstr>eabe64c5-68f5-4a76-8301-9577a679e449</vt:lpwstr>
  </property>
  <property fmtid="{D5CDD505-2E9C-101B-9397-08002B2CF9AE}" pid="7" name="MSIP_Label_ff380b4d-8a71-4241-982c-3816ad3ce8fc_ActionId">
    <vt:lpwstr>de2ce600-906e-4f28-94a3-73718b79378f</vt:lpwstr>
  </property>
  <property fmtid="{D5CDD505-2E9C-101B-9397-08002B2CF9AE}" pid="8" name="MSIP_Label_ff380b4d-8a71-4241-982c-3816ad3ce8fc_ContentBits">
    <vt:lpwstr>0</vt:lpwstr>
  </property>
  <property fmtid="{D5CDD505-2E9C-101B-9397-08002B2CF9AE}" pid="9" name="MSIP_Label_ff380b4d-8a71-4241-982c-3816ad3ce8fc_Tag">
    <vt:lpwstr>10, 3, 0, 1</vt:lpwstr>
  </property>
</Properties>
</file>